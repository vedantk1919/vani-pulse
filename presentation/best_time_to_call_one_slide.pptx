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Cambria"/>
              </a:rPr>
              <a:t>VANI Pulse: replace the fixed 15-minute redial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8"/>
                </a:solidFill>
                <a:latin typeface="Calibri"/>
              </a:rPr>
              <a:t>Problem 3 | trained Apr-Aug 2026, tested on held-out September (124,779 dials) | target: meetings fixed, not connects</a:t>
            </a:r>
          </a:p>
        </p:txBody>
      </p:sp>
      <p:sp>
        <p:nvSpPr>
          <p:cNvPr id="4" name="kpi0"/>
          <p:cNvSpPr/>
          <p:nvPr/>
        </p:nvSpPr>
        <p:spPr>
          <a:xfrm>
            <a:off x="457200" y="14630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mbria"/>
              </a:rPr>
              <a:t>16.9 → 13.75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8"/>
                </a:solidFill>
                <a:latin typeface="Calibri"/>
              </a:rPr>
              <a:t>calls per meeting (−19%)</a:t>
            </a:r>
          </a:p>
        </p:txBody>
      </p:sp>
      <p:sp>
        <p:nvSpPr>
          <p:cNvPr id="7" name="kpi1"/>
          <p:cNvSpPr/>
          <p:nvPr/>
        </p:nvSpPr>
        <p:spPr>
          <a:xfrm>
            <a:off x="457200" y="2487168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mbria"/>
              </a:rPr>
              <a:t>−17.5%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8"/>
                </a:solidFill>
                <a:latin typeface="Calibri"/>
              </a:rPr>
              <a:t>dials, 96.2% of meetings kept</a:t>
            </a:r>
          </a:p>
        </p:txBody>
      </p:sp>
      <p:sp>
        <p:nvSpPr>
          <p:cNvPr id="10" name="kpi2"/>
          <p:cNvSpPr/>
          <p:nvPr/>
        </p:nvSpPr>
        <p:spPr>
          <a:xfrm>
            <a:off x="457200" y="3511296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mbria"/>
              </a:rPr>
              <a:t>+6.6%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416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8"/>
                </a:solidFill>
                <a:latin typeface="Calibri"/>
              </a:rPr>
              <a:t>meetings at equal dials (model est.)</a:t>
            </a:r>
          </a:p>
        </p:txBody>
      </p:sp>
      <p:sp>
        <p:nvSpPr>
          <p:cNvPr id="13" name="kpi3"/>
          <p:cNvSpPr/>
          <p:nvPr/>
        </p:nvSpPr>
        <p:spPr>
          <a:xfrm>
            <a:off x="457200" y="4535424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085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mbria"/>
              </a:rPr>
              <a:t>+17.9%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6577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8"/>
                </a:solidFill>
                <a:latin typeface="Calibri"/>
              </a:rPr>
              <a:t>retry meetings, off-policy IPS (95% CI +3.4 to +35.9)</a:t>
            </a:r>
          </a:p>
        </p:txBody>
      </p:sp>
      <p:sp>
        <p:nvSpPr>
          <p:cNvPr id="16" name="verdict"/>
          <p:cNvSpPr/>
          <p:nvPr/>
        </p:nvSpPr>
        <p:spPr>
          <a:xfrm>
            <a:off x="4297680" y="1463040"/>
            <a:ext cx="3749039" cy="3986784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6276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6E8"/>
                </a:solidFill>
                <a:latin typeface="Calibri"/>
              </a:rPr>
              <a:t>Verdict on the 15-minute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89F2E"/>
                </a:solidFill>
                <a:latin typeface="Cambria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74320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9F2E"/>
                </a:solidFill>
                <a:latin typeface="Calibri"/>
              </a:rPr>
              <a:t>▸ </a:t>
            </a:r>
            <a:r>
              <a:rPr sz="1300" b="0">
                <a:solidFill>
                  <a:srgbClr val="FFFFFF"/>
                </a:solidFill>
                <a:latin typeface="Calibri"/>
              </a:rPr>
              <a:t>No redial within 30 min: short redials fix 0-3% vs 3-5% at 30 min-2 h, in every segment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89F2E"/>
                </a:solidFill>
                <a:latin typeface="Calibri"/>
              </a:rPr>
              <a:t>▸ </a:t>
            </a:r>
            <a:r>
              <a:rPr sz="1300" b="0">
                <a:solidFill>
                  <a:srgbClr val="FFFFFF"/>
                </a:solidFill>
                <a:latin typeface="Calibri"/>
              </a:rPr>
              <a:t>Retry same day, 1-2 h or 4-8 h later, in the seller's best-scored slot (next day ≈ 0.5×)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89F2E"/>
                </a:solidFill>
                <a:latin typeface="Calibri"/>
              </a:rPr>
              <a:t>▸ </a:t>
            </a:r>
            <a:r>
              <a:rPr sz="1300" b="0">
                <a:solidFill>
                  <a:srgbClr val="FFFFFF"/>
                </a:solidFill>
                <a:latin typeface="Calibri"/>
              </a:rPr>
              <a:t>Max 3 dials / 24 h and 5 per lead; stop when P(meeting) &lt; 1%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89F2E"/>
                </a:solidFill>
                <a:latin typeface="Calibri"/>
              </a:rPr>
              <a:t>▸ </a:t>
            </a:r>
            <a:r>
              <a:rPr sz="1300" b="0">
                <a:solidFill>
                  <a:srgbClr val="FFFFFF"/>
                </a:solidFill>
                <a:latin typeface="Calibri"/>
              </a:rPr>
              <a:t>Call Later = call at the asked time; busy → offer the seller's 2 best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80060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9F2E"/>
                </a:solidFill>
                <a:latin typeface="Calibri"/>
              </a:rPr>
              <a:t>Trade-off: </a:t>
            </a:r>
            <a:r>
              <a:rPr sz="1100" b="0">
                <a:solidFill>
                  <a:srgbClr val="FFFFFF"/>
                </a:solidFill>
                <a:latin typeface="Calibri"/>
              </a:rPr>
              <a:t>connect 55.7% → 56.0% | calls/meeting 16.9 → 13.75 | meetings +1.3% with 17.5% fewer dials</a:t>
            </a:r>
          </a:p>
        </p:txBody>
      </p:sp>
      <p:sp>
        <p:nvSpPr>
          <p:cNvPr id="21" name="validation"/>
          <p:cNvSpPr/>
          <p:nvPr/>
        </p:nvSpPr>
        <p:spPr>
          <a:xfrm>
            <a:off x="8321040" y="1463040"/>
            <a:ext cx="3410712" cy="3986784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6276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Cambria"/>
              </a:rPr>
              <a:t>How we validated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03120"/>
            <a:ext cx="30632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C7D"/>
                </a:solidFill>
                <a:latin typeface="Calibri"/>
              </a:rPr>
              <a:t>✓ </a:t>
            </a:r>
            <a:r>
              <a:rPr sz="1200" b="0">
                <a:solidFill>
                  <a:srgbClr val="14213D"/>
                </a:solidFill>
                <a:latin typeface="Calibri"/>
              </a:rPr>
              <a:t>Time split: train Apr-Aug, test Sept (no shuffling; volume grew ~6.6×)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C7D"/>
                </a:solidFill>
                <a:latin typeface="Calibri"/>
              </a:rPr>
              <a:t>✓ </a:t>
            </a:r>
            <a:r>
              <a:rPr sz="1200" b="0">
                <a:solidFill>
                  <a:srgbClr val="14213D"/>
                </a:solidFill>
                <a:latin typeface="Calibri"/>
              </a:rPr>
              <a:t>Real outcomes: best-scored slots beat worst by +21.9% (first calls) and +93.2% (retries), bootstrap CIs exclude 0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C7D"/>
                </a:solidFill>
                <a:latin typeface="Calibri"/>
              </a:rPr>
              <a:t>✓ </a:t>
            </a:r>
            <a:r>
              <a:rPr sz="1200" b="0">
                <a:solidFill>
                  <a:srgbClr val="14213D"/>
                </a:solidFill>
                <a:latin typeface="Calibri"/>
              </a:rPr>
              <a:t>Off-policy IPS on retries: +17.9% (CI 3.4 to 35.9)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C7D"/>
                </a:solidFill>
                <a:latin typeface="Calibri"/>
              </a:rPr>
              <a:t>✓ </a:t>
            </a:r>
            <a:r>
              <a:rPr sz="1200" b="0">
                <a:solidFill>
                  <a:srgbClr val="14213D"/>
                </a:solidFill>
                <a:latin typeface="Calibri"/>
              </a:rPr>
              <a:t>Label check: 2.4% false meetings, flat by hour; AUC unchanged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C7D"/>
                </a:solidFill>
                <a:latin typeface="Calibri"/>
              </a:rPr>
              <a:t>✓ </a:t>
            </a:r>
            <a:r>
              <a:rPr sz="1200" b="0">
                <a:solidFill>
                  <a:srgbClr val="14213D"/>
                </a:solidFill>
                <a:latin typeface="Calibri"/>
              </a:rPr>
              <a:t>Ensemble AUC 0.754 (vs 4 models); new sellers fall back to segment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0060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9F2E"/>
                </a:solidFill>
                <a:latin typeface="Calibri"/>
              </a:rPr>
              <a:t>Limit: </a:t>
            </a:r>
            <a:r>
              <a:rPr sz="1100" b="0">
                <a:solidFill>
                  <a:srgbClr val="5B6778"/>
                </a:solidFill>
                <a:latin typeface="Calibri"/>
              </a:rPr>
              <a:t>re-timing lift is estimated from data logged under the old schedule; confirm with a 5% A/B test.</a:t>
            </a:r>
          </a:p>
        </p:txBody>
      </p:sp>
      <p:sp>
        <p:nvSpPr>
          <p:cNvPr id="25" name="step0"/>
          <p:cNvSpPr/>
          <p:nvPr/>
        </p:nvSpPr>
        <p:spPr>
          <a:xfrm>
            <a:off x="457200" y="56692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7424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7C7D"/>
                </a:solidFill>
                <a:latin typeface="Calibri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035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Calibri"/>
              </a:rPr>
              <a:t>530k dials, 149k sellers, transcripts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23744" y="5998464"/>
            <a:ext cx="182880" cy="201168"/>
          </a:xfrm>
          <a:prstGeom prst="rightArrow">
            <a:avLst/>
          </a:prstGeom>
          <a:solidFill>
            <a:srgbClr val="E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1"/>
          <p:cNvSpPr/>
          <p:nvPr/>
        </p:nvSpPr>
        <p:spPr>
          <a:xfrm>
            <a:off x="2761488" y="56692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98648" y="57424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7C7D"/>
                </a:solidFill>
                <a:latin typeface="Calibri"/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6035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Calibri"/>
              </a:rPr>
              <a:t>past-only history, segment, slot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828032" y="5998464"/>
            <a:ext cx="182880" cy="201168"/>
          </a:xfrm>
          <a:prstGeom prst="rightArrow">
            <a:avLst/>
          </a:prstGeom>
          <a:solidFill>
            <a:srgbClr val="E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p2"/>
          <p:cNvSpPr/>
          <p:nvPr/>
        </p:nvSpPr>
        <p:spPr>
          <a:xfrm>
            <a:off x="5065776" y="56692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57424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7C7D"/>
                </a:solidFill>
                <a:latin typeface="Calibri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6035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Calibri"/>
              </a:rPr>
              <a:t>LightGBM+XGBoost+CatBoost
P(answer), P(meeting)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132320" y="5998464"/>
            <a:ext cx="182880" cy="201168"/>
          </a:xfrm>
          <a:prstGeom prst="rightArrow">
            <a:avLst/>
          </a:prstGeom>
          <a:solidFill>
            <a:srgbClr val="E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ep3"/>
          <p:cNvSpPr/>
          <p:nvPr/>
        </p:nvSpPr>
        <p:spPr>
          <a:xfrm>
            <a:off x="7370064" y="56692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4" y="57424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7C7D"/>
                </a:solidFill>
                <a:latin typeface="Calibri"/>
              </a:rPr>
              <a:t>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7224" y="6035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Calibri"/>
              </a:rPr>
              <a:t>gap curve + guardrails
+ stop rule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436608" y="5998464"/>
            <a:ext cx="182880" cy="201168"/>
          </a:xfrm>
          <a:prstGeom prst="rightArrow">
            <a:avLst/>
          </a:prstGeom>
          <a:solidFill>
            <a:srgbClr val="E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ep4"/>
          <p:cNvSpPr/>
          <p:nvPr/>
        </p:nvSpPr>
        <p:spPr>
          <a:xfrm>
            <a:off x="9674352" y="566928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11512" y="57424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7C7D"/>
                </a:solidFill>
                <a:latin typeface="Calibri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11512" y="6035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8"/>
                </a:solidFill>
                <a:latin typeface="Calibri"/>
              </a:rPr>
              <a:t>weekly windows, retry ladder,
VANI prompt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